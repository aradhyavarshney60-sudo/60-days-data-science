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C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28600"/>
            <a:ext cx="23774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2CDCC7"/>
                </a:solidFill>
                <a:latin typeface="Aptos"/>
              </a:defRPr>
            </a:pPr>
            <a:r>
              <a:t>CI  /  ANALYTICS</a:t>
            </a:r>
          </a:p>
        </p:txBody>
      </p:sp>
      <p:sp>
        <p:nvSpPr>
          <p:cNvPr id="4" name="Oval 3"/>
          <p:cNvSpPr/>
          <p:nvPr/>
        </p:nvSpPr>
        <p:spPr>
          <a:xfrm>
            <a:off x="8001000" y="1143000"/>
            <a:ext cx="3246120" cy="3246120"/>
          </a:xfrm>
          <a:prstGeom prst="ellipse">
            <a:avLst/>
          </a:prstGeom>
          <a:solidFill>
            <a:srgbClr val="1B2B43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85632" y="1627632"/>
            <a:ext cx="2286000" cy="2286000"/>
          </a:xfrm>
          <a:prstGeom prst="ellipse">
            <a:avLst/>
          </a:prstGeom>
          <a:solidFill>
            <a:srgbClr val="0A1222"/>
          </a:solidFill>
          <a:ln>
            <a:solidFill>
              <a:srgbClr val="2CD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34272" y="2176272"/>
            <a:ext cx="1188720" cy="1188720"/>
          </a:xfrm>
          <a:prstGeom prst="ellipse">
            <a:avLst/>
          </a:prstGeom>
          <a:solidFill>
            <a:srgbClr val="2C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72600" y="2514600"/>
            <a:ext cx="512064" cy="512064"/>
          </a:xfrm>
          <a:prstGeom prst="ellipse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26679" y="1828800"/>
            <a:ext cx="164592" cy="164592"/>
          </a:xfrm>
          <a:prstGeom prst="ellipse">
            <a:avLst/>
          </a:prstGeom>
          <a:solidFill>
            <a:srgbClr val="53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81360" y="1325880"/>
            <a:ext cx="128016" cy="128016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0" y="3931920"/>
            <a:ext cx="182880" cy="182880"/>
          </a:xfrm>
          <a:prstGeom prst="ellipse">
            <a:avLst/>
          </a:prstGeom>
          <a:solidFill>
            <a:srgbClr val="2C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38160" y="4297680"/>
            <a:ext cx="128016" cy="128016"/>
          </a:xfrm>
          <a:prstGeom prst="ellipse">
            <a:avLst/>
          </a:prstGeom>
          <a:solidFill>
            <a:srgbClr val="6DE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234440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CDCC7"/>
                </a:solidFill>
                <a:latin typeface="Aptos"/>
              </a:defRPr>
            </a:pPr>
            <a:r>
              <a:t>DAY 58  /  CAPSTONE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37360"/>
            <a:ext cx="6766560" cy="2194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3500" b="1">
                <a:solidFill>
                  <a:srgbClr val="F5F8FC"/>
                </a:solidFill>
                <a:latin typeface="Aptos"/>
              </a:defRPr>
            </a:pPr>
            <a:r>
              <a:t>CUSTOMER</a:t>
            </a:r>
          </a:p>
          <a:p>
            <a:pPr>
              <a:spcAft>
                <a:spcPts val="600"/>
              </a:spcAft>
              <a:defRPr sz="3500" b="1">
                <a:solidFill>
                  <a:srgbClr val="F5F8FC"/>
                </a:solidFill>
                <a:latin typeface="Aptos"/>
              </a:defRPr>
            </a:pPr>
            <a:r>
              <a:t>INTELLIGENCE</a:t>
            </a:r>
          </a:p>
          <a:p>
            <a:pPr>
              <a:spcAft>
                <a:spcPts val="600"/>
              </a:spcAft>
              <a:defRPr sz="3500" b="1">
                <a:solidFill>
                  <a:srgbClr val="F5F8FC"/>
                </a:solidFill>
                <a:latin typeface="Aptos"/>
              </a:defRPr>
            </a:pPr>
            <a:r>
              <a:t>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251960"/>
            <a:ext cx="64008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A5B4C7"/>
                </a:solidFill>
                <a:latin typeface="Aptos"/>
              </a:defRPr>
            </a:pPr>
            <a:r>
              <a:t>Turning churn data into clearer decisions.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074920"/>
            <a:ext cx="53035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CDCC7"/>
                </a:solidFill>
                <a:latin typeface="Aptos"/>
              </a:defRPr>
            </a:pPr>
            <a:r>
              <a:t>PREDICT  •  EXPLAIN  •  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5715000"/>
            <a:ext cx="914400" cy="50292"/>
          </a:xfrm>
          <a:prstGeom prst="rect">
            <a:avLst/>
          </a:prstGeom>
          <a:solidFill>
            <a:srgbClr val="2C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5925312"/>
            <a:ext cx="3657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A5B4C7"/>
                </a:solidFill>
                <a:latin typeface="Aptos"/>
              </a:defRPr>
            </a:pPr>
            <a:r>
              <a:t>60 DAYS OF DATA SCIENCE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5989320"/>
            <a:ext cx="21031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F5F8FC"/>
                </a:solidFill>
                <a:latin typeface="Aptos"/>
              </a:defRPr>
            </a:pPr>
            <a:r>
              <a:t>PROJECT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C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28600"/>
            <a:ext cx="23774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2CDCC7"/>
                </a:solidFill>
                <a:latin typeface="Aptos"/>
              </a:defRPr>
            </a:pPr>
            <a:r>
              <a:t>CI  / 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A5B4C7"/>
                </a:solidFill>
                <a:latin typeface="Aptos"/>
              </a:defRPr>
            </a:pPr>
            <a:r>
              <a:t>CUSTOMER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CDCC7"/>
                </a:solidFill>
                <a:latin typeface="Aptos"/>
              </a:defRPr>
            </a:pPr>
            <a:r>
              <a:t>02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94360"/>
            <a:ext cx="100584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CDCC7"/>
                </a:solidFill>
                <a:latin typeface="Aptos"/>
              </a:defRPr>
            </a:pPr>
            <a:r>
              <a:t>01 / BUSINESS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14400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Churn is a business signal—not just a label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1088136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5B4C7"/>
                </a:solidFill>
                <a:latin typeface="Aptos"/>
              </a:defRPr>
            </a:pPr>
            <a:r>
              <a:t>The platform helps teams investigate who may leave and what patterns deserve attention.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3429000" cy="1920240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331720"/>
            <a:ext cx="50292" cy="1920240"/>
          </a:xfrm>
          <a:prstGeom prst="rect">
            <a:avLst/>
          </a:prstGeom>
          <a:solidFill>
            <a:srgbClr val="2C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496312"/>
            <a:ext cx="306324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926079"/>
            <a:ext cx="3063240" cy="12070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5B4C7"/>
                </a:solidFill>
                <a:latin typeface="Aptos"/>
              </a:defRPr>
            </a:pPr>
            <a:r>
              <a:t>Customer churn can disrupt recurring revenue and create costly replacement 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331720"/>
            <a:ext cx="3429000" cy="1920240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331720"/>
            <a:ext cx="50292" cy="1920240"/>
          </a:xfrm>
          <a:prstGeom prst="rect">
            <a:avLst/>
          </a:prstGeom>
          <a:solidFill>
            <a:srgbClr val="53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496312"/>
            <a:ext cx="306324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THE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26079"/>
            <a:ext cx="3063240" cy="12070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5B4C7"/>
                </a:solidFill>
                <a:latin typeface="Aptos"/>
              </a:defRPr>
            </a:pPr>
            <a:r>
              <a:t>Use customer data to uncover segments and prioritize retention conversations.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331720"/>
            <a:ext cx="3429000" cy="1920240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2331720"/>
            <a:ext cx="50292" cy="192024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496312"/>
            <a:ext cx="306324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THE GOAL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926079"/>
            <a:ext cx="3063240" cy="12070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5B4C7"/>
                </a:solidFill>
                <a:latin typeface="Aptos"/>
              </a:defRPr>
            </a:pPr>
            <a:r>
              <a:t>Deliver predictions with context so teams can investigate—not blindly automate.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800600"/>
            <a:ext cx="19202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CDCC7"/>
                </a:solidFill>
                <a:latin typeface="Aptos"/>
              </a:defRPr>
            </a:pPr>
            <a:r>
              <a:t>PRODUCT PRINCIPLE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166360"/>
            <a:ext cx="1051560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F5F8FC"/>
                </a:solidFill>
                <a:latin typeface="Aptos"/>
              </a:defRPr>
            </a:pPr>
            <a:r>
              <a:t>Make the output understandable, reviewable, and useful to a human decision-maker.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C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28600"/>
            <a:ext cx="23774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2CDCC7"/>
                </a:solidFill>
                <a:latin typeface="Aptos"/>
              </a:defRPr>
            </a:pPr>
            <a:r>
              <a:t>CI  / 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A5B4C7"/>
                </a:solidFill>
                <a:latin typeface="Aptos"/>
              </a:defRPr>
            </a:pPr>
            <a:r>
              <a:t>CUSTOMER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CDCC7"/>
                </a:solidFill>
                <a:latin typeface="Aptos"/>
              </a:defRPr>
            </a:pPr>
            <a:r>
              <a:t>03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94360"/>
            <a:ext cx="100584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CDCC7"/>
                </a:solidFill>
                <a:latin typeface="Aptos"/>
              </a:defRPr>
            </a:pPr>
            <a:r>
              <a:t>02 / DATA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14400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Start with a clear view of the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1088136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5B4C7"/>
                </a:solidFill>
                <a:latin typeface="Aptos"/>
              </a:defRPr>
            </a:pPr>
            <a:r>
              <a:t>Telco Customer Churn dataset • verified source-data counts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2578608" cy="1417320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542032"/>
            <a:ext cx="219456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2CDCC7"/>
                </a:solidFill>
                <a:latin typeface="Aptos"/>
              </a:defRPr>
            </a:pPr>
            <a:r>
              <a:t>7,043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182112"/>
            <a:ext cx="224028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A5B4C7"/>
                </a:solidFill>
                <a:latin typeface="Aptos"/>
              </a:defRPr>
            </a:pPr>
            <a:r>
              <a:t>CUSTOMER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2331720"/>
            <a:ext cx="2578608" cy="1417320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4176" y="2542032"/>
            <a:ext cx="219456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53BEFF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4176" y="3182112"/>
            <a:ext cx="224028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A5B4C7"/>
                </a:solidFill>
                <a:latin typeface="Aptos"/>
              </a:defRPr>
            </a:pPr>
            <a:r>
              <a:t>SOURCE COLUMNS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5936" y="2331720"/>
            <a:ext cx="2578608" cy="1417320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2542032"/>
            <a:ext cx="219456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FB454"/>
                </a:solidFill>
                <a:latin typeface="Aptos"/>
              </a:defRPr>
            </a:pPr>
            <a:r>
              <a:t>1,869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182112"/>
            <a:ext cx="224028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A5B4C7"/>
                </a:solidFill>
                <a:latin typeface="Aptos"/>
              </a:defRPr>
            </a:pPr>
            <a:r>
              <a:t>CHURN = YES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98863" y="2331720"/>
            <a:ext cx="2578608" cy="1417320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32" y="2542032"/>
            <a:ext cx="219456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6DE6A6"/>
                </a:solidFill>
                <a:latin typeface="Aptos"/>
              </a:defRPr>
            </a:pPr>
            <a:r>
              <a:t>5,174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3182112"/>
            <a:ext cx="224028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A5B4C7"/>
                </a:solidFill>
                <a:latin typeface="Aptos"/>
              </a:defRPr>
            </a:pPr>
            <a:r>
              <a:t>CHURN = 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51960"/>
            <a:ext cx="2743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5F8FC"/>
                </a:solidFill>
                <a:latin typeface="Aptos"/>
              </a:defRPr>
            </a:pPr>
            <a:r>
              <a:t>TARGET DISTRIBUTION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709160"/>
            <a:ext cx="10652760" cy="274320"/>
          </a:xfrm>
          <a:prstGeom prst="roundRect">
            <a:avLst/>
          </a:prstGeom>
          <a:solidFill>
            <a:srgbClr val="1B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709160"/>
            <a:ext cx="2826921" cy="27432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166360"/>
            <a:ext cx="27432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B454"/>
                </a:solidFill>
                <a:latin typeface="Aptos"/>
              </a:defRPr>
            </a:pPr>
            <a:r>
              <a:t>26.5% churn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5166360"/>
            <a:ext cx="27432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600"/>
              </a:spcAft>
              <a:defRPr sz="1400" b="1">
                <a:solidFill>
                  <a:srgbClr val="6DE6A6"/>
                </a:solidFill>
                <a:latin typeface="Aptos"/>
              </a:defRPr>
            </a:pPr>
            <a:r>
              <a:t>73.5% retained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715000"/>
            <a:ext cx="104241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A5B4C7"/>
                </a:solidFill>
                <a:latin typeface="Aptos"/>
              </a:defRPr>
            </a:pPr>
            <a:r>
              <a:t>Counts describe the dataset; they do not imply that a model will predict each group equally well.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C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28600"/>
            <a:ext cx="23774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2CDCC7"/>
                </a:solidFill>
                <a:latin typeface="Aptos"/>
              </a:defRPr>
            </a:pPr>
            <a:r>
              <a:t>CI  / 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A5B4C7"/>
                </a:solidFill>
                <a:latin typeface="Aptos"/>
              </a:defRPr>
            </a:pPr>
            <a:r>
              <a:t>CUSTOMER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CDCC7"/>
                </a:solidFill>
                <a:latin typeface="Aptos"/>
              </a:defRPr>
            </a:pPr>
            <a:r>
              <a:t>04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94360"/>
            <a:ext cx="100584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CDCC7"/>
                </a:solidFill>
                <a:latin typeface="Aptos"/>
              </a:defRPr>
            </a:pPr>
            <a:r>
              <a:t>03 / SYSTEM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14400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One connected analytics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1088136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5B4C7"/>
                </a:solidFill>
                <a:latin typeface="Aptos"/>
              </a:defRPr>
            </a:pPr>
            <a:r>
              <a:t>A modular workflow links preparation, modeling, explainability, API serving, and a user-facing demo.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788920"/>
            <a:ext cx="1627632" cy="1417320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95351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CDCC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310128"/>
            <a:ext cx="13258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730752"/>
            <a:ext cx="1325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A5B4C7"/>
                </a:solidFill>
                <a:latin typeface="Aptos"/>
              </a:defRPr>
            </a:pPr>
            <a:r>
              <a:t>Load + validate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12848" y="3493008"/>
            <a:ext cx="201168" cy="0"/>
          </a:xfrm>
          <a:prstGeom prst="line">
            <a:avLst/>
          </a:prstGeom>
          <a:ln w="19050">
            <a:solidFill>
              <a:srgbClr val="2CD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87168" y="2788920"/>
            <a:ext cx="1627632" cy="1417320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295351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CDCC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3472" y="3310128"/>
            <a:ext cx="13258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t>PREP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3472" y="3730752"/>
            <a:ext cx="1325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A5B4C7"/>
                </a:solidFill>
                <a:latin typeface="Aptos"/>
              </a:defRPr>
            </a:pPr>
            <a:r>
              <a:t>Clean + transform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33088" y="3493008"/>
            <a:ext cx="201168" cy="0"/>
          </a:xfrm>
          <a:prstGeom prst="line">
            <a:avLst/>
          </a:prstGeom>
          <a:ln w="19050">
            <a:solidFill>
              <a:srgbClr val="2CD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407408" y="2788920"/>
            <a:ext cx="1627632" cy="1417320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295351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CDCC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3310128"/>
            <a:ext cx="13258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3730752"/>
            <a:ext cx="1325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A5B4C7"/>
                </a:solidFill>
                <a:latin typeface="Aptos"/>
              </a:defRPr>
            </a:pPr>
            <a:r>
              <a:t>Train + evaluate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53328" y="3493008"/>
            <a:ext cx="201168" cy="0"/>
          </a:xfrm>
          <a:prstGeom prst="line">
            <a:avLst/>
          </a:prstGeom>
          <a:ln w="19050">
            <a:solidFill>
              <a:srgbClr val="2CD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27648" y="2788920"/>
            <a:ext cx="1627632" cy="1417320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295351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CDCC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310128"/>
            <a:ext cx="13258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3730752"/>
            <a:ext cx="1325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A5B4C7"/>
                </a:solidFill>
                <a:latin typeface="Aptos"/>
              </a:defRPr>
            </a:pPr>
            <a:r>
              <a:t>Importance + SHAP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73568" y="3493008"/>
            <a:ext cx="201168" cy="0"/>
          </a:xfrm>
          <a:prstGeom prst="line">
            <a:avLst/>
          </a:prstGeom>
          <a:ln w="19050">
            <a:solidFill>
              <a:srgbClr val="2CD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247888" y="2788920"/>
            <a:ext cx="1627632" cy="1417320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295351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CDCC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10128"/>
            <a:ext cx="13258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t>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730752"/>
            <a:ext cx="1325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A5B4C7"/>
                </a:solidFill>
                <a:latin typeface="Aptos"/>
              </a:defRPr>
            </a:pPr>
            <a:r>
              <a:t>Serve predictions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893808" y="3493008"/>
            <a:ext cx="201168" cy="0"/>
          </a:xfrm>
          <a:prstGeom prst="line">
            <a:avLst/>
          </a:prstGeom>
          <a:ln w="19050">
            <a:solidFill>
              <a:srgbClr val="2CD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168128" y="2788920"/>
            <a:ext cx="1627632" cy="1417320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14432" y="295351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CDCC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14432" y="3310128"/>
            <a:ext cx="13258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t>UI / INSIGHTS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14432" y="3730752"/>
            <a:ext cx="13258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A5B4C7"/>
                </a:solidFill>
                <a:latin typeface="Aptos"/>
              </a:defRPr>
            </a:pPr>
            <a:r>
              <a:t>Explore results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074920"/>
            <a:ext cx="106070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CDCC7"/>
                </a:solidFill>
                <a:latin typeface="Aptos"/>
              </a:defRPr>
            </a:pPr>
            <a:r>
              <a:t>Outputs: prediction results • explanation artifacts • segment reports • interactive 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C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28600"/>
            <a:ext cx="23774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2CDCC7"/>
                </a:solidFill>
                <a:latin typeface="Aptos"/>
              </a:defRPr>
            </a:pPr>
            <a:r>
              <a:t>CI  / 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A5B4C7"/>
                </a:solidFill>
                <a:latin typeface="Aptos"/>
              </a:defRPr>
            </a:pPr>
            <a:r>
              <a:t>CUSTOMER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CDCC7"/>
                </a:solidFill>
                <a:latin typeface="Aptos"/>
              </a:defRPr>
            </a:pPr>
            <a:r>
              <a:t>05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94360"/>
            <a:ext cx="100584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CDCC7"/>
                </a:solidFill>
                <a:latin typeface="Aptos"/>
              </a:defRPr>
            </a:pPr>
            <a:r>
              <a:t>04 / MODEL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14400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Measure quality with more than one number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1088136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5B4C7"/>
                </a:solidFill>
                <a:latin typeface="Aptos"/>
              </a:defRPr>
            </a:pPr>
            <a:r>
              <a:t>Day 50 documented these test-set metrics for the Gradient Boosting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31720"/>
            <a:ext cx="5074920" cy="2240280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438912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4200" b="1">
                <a:solidFill>
                  <a:srgbClr val="2CDCC7"/>
                </a:solidFill>
                <a:latin typeface="Aptos"/>
              </a:defRPr>
            </a:pPr>
            <a:r>
              <a:t>80.62%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74720"/>
            <a:ext cx="42976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A5B4C7"/>
                </a:solidFill>
                <a:latin typeface="Aptos"/>
              </a:defRPr>
            </a:pPr>
            <a:r>
              <a:t>TEST 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331720"/>
            <a:ext cx="5074920" cy="2240280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606040"/>
            <a:ext cx="438912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4200" b="1">
                <a:solidFill>
                  <a:srgbClr val="53BEFF"/>
                </a:solidFill>
                <a:latin typeface="Aptos"/>
              </a:defRPr>
            </a:pPr>
            <a:r>
              <a:t>79.79%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474720"/>
            <a:ext cx="42976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A5B4C7"/>
                </a:solidFill>
                <a:latin typeface="Aptos"/>
              </a:defRPr>
            </a:pPr>
            <a:r>
              <a:t>WEIGHTED F1 SCORE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102352"/>
            <a:ext cx="100584" cy="100584"/>
          </a:xfrm>
          <a:prstGeom prst="ellipse">
            <a:avLst/>
          </a:prstGeom>
          <a:solidFill>
            <a:srgbClr val="2C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5029200"/>
            <a:ext cx="10268712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A5B4C7"/>
                </a:solidFill>
                <a:latin typeface="Aptos"/>
              </a:defRPr>
            </a:pPr>
            <a:r>
              <a:t>Review the confusion matrix, precision, and recall alongside accuracy.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605272"/>
            <a:ext cx="100584" cy="100584"/>
          </a:xfrm>
          <a:prstGeom prst="ellipse">
            <a:avLst/>
          </a:prstGeom>
          <a:solidFill>
            <a:srgbClr val="2C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5532120"/>
            <a:ext cx="10268712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A5B4C7"/>
                </a:solidFill>
                <a:latin typeface="Aptos"/>
              </a:defRPr>
            </a:pPr>
            <a:r>
              <a:t>These are evaluation metrics—not proof of production readiness or business impact.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C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28600"/>
            <a:ext cx="23774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2CDCC7"/>
                </a:solidFill>
                <a:latin typeface="Aptos"/>
              </a:defRPr>
            </a:pPr>
            <a:r>
              <a:t>CI  / 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A5B4C7"/>
                </a:solidFill>
                <a:latin typeface="Aptos"/>
              </a:defRPr>
            </a:pPr>
            <a:r>
              <a:t>CUSTOMER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CDCC7"/>
                </a:solidFill>
                <a:latin typeface="Aptos"/>
              </a:defRPr>
            </a:pPr>
            <a:r>
              <a:t>06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94360"/>
            <a:ext cx="100584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CDCC7"/>
                </a:solidFill>
                <a:latin typeface="Aptos"/>
              </a:defRPr>
            </a:pPr>
            <a:r>
              <a:t>05 / EXPLAINABLE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14400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Move from a score to a question worth investigating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1088136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5B4C7"/>
                </a:solidFill>
                <a:latin typeface="Aptos"/>
              </a:defRPr>
            </a:pPr>
            <a:r>
              <a:t>Day 51 generated feature-importance and SHAP-based explanation artifacts.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31720"/>
            <a:ext cx="3383280" cy="1920240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331720"/>
            <a:ext cx="50292" cy="1920240"/>
          </a:xfrm>
          <a:prstGeom prst="rect">
            <a:avLst/>
          </a:prstGeom>
          <a:solidFill>
            <a:srgbClr val="2C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96312"/>
            <a:ext cx="30175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GLOBAL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26079"/>
            <a:ext cx="3017520" cy="12070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5B4C7"/>
                </a:solidFill>
                <a:latin typeface="Aptos"/>
              </a:defRPr>
            </a:pPr>
            <a:r>
              <a:t>Feature importance helps summarize which inputs influence model behavior overall.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331720"/>
            <a:ext cx="3383280" cy="1920240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331720"/>
            <a:ext cx="50292" cy="1920240"/>
          </a:xfrm>
          <a:prstGeom prst="rect">
            <a:avLst/>
          </a:prstGeom>
          <a:solidFill>
            <a:srgbClr val="53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496312"/>
            <a:ext cx="30175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LOCAL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26079"/>
            <a:ext cx="3017520" cy="12070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5B4C7"/>
                </a:solidFill>
                <a:latin typeface="Aptos"/>
              </a:defRPr>
            </a:pPr>
            <a:r>
              <a:t>Inspect a specific prediction in context before deciding what action to take.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331720"/>
            <a:ext cx="3383280" cy="1920240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331720"/>
            <a:ext cx="50292" cy="192024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2496312"/>
            <a:ext cx="30175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RESPONSIBLE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926079"/>
            <a:ext cx="3017520" cy="12070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5B4C7"/>
                </a:solidFill>
                <a:latin typeface="Aptos"/>
              </a:defRPr>
            </a:pPr>
            <a:r>
              <a:t>Explanations are associations, not proof of cause; check bias and data quality.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892040"/>
            <a:ext cx="10607040" cy="685800"/>
          </a:xfrm>
          <a:prstGeom prst="roundRect">
            <a:avLst/>
          </a:prstGeom>
          <a:solidFill>
            <a:srgbClr val="1B2B43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093208"/>
            <a:ext cx="1005840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5F8FC"/>
                </a:solidFill>
                <a:latin typeface="Aptos"/>
              </a:defRPr>
            </a:pPr>
            <a:r>
              <a:t>ASK: Which signals should a retention team investigate first—and why?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C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28600"/>
            <a:ext cx="23774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2CDCC7"/>
                </a:solidFill>
                <a:latin typeface="Aptos"/>
              </a:defRPr>
            </a:pPr>
            <a:r>
              <a:t>CI  / 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A5B4C7"/>
                </a:solidFill>
                <a:latin typeface="Aptos"/>
              </a:defRPr>
            </a:pPr>
            <a:r>
              <a:t>CUSTOMER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CDCC7"/>
                </a:solidFill>
                <a:latin typeface="Aptos"/>
              </a:defRPr>
            </a:pPr>
            <a:r>
              <a:t>07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94360"/>
            <a:ext cx="100584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CDCC7"/>
                </a:solidFill>
                <a:latin typeface="Aptos"/>
              </a:defRPr>
            </a:pPr>
            <a:r>
              <a:t>06 / BUSINESS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14400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Connect analysis to a retention experiment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1088136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5B4C7"/>
                </a:solidFill>
                <a:latin typeface="Aptos"/>
              </a:defRPr>
            </a:pPr>
            <a:r>
              <a:t>Day 54 outputs include churn distribution, contract and tenure visualizations, and recommendations.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10698480" cy="804672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578608"/>
            <a:ext cx="5943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CDCC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542032"/>
            <a:ext cx="246888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t>SEGMENT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542032"/>
            <a:ext cx="6675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5B4C7"/>
                </a:solidFill>
                <a:latin typeface="Aptos"/>
              </a:defRPr>
            </a:pPr>
            <a:r>
              <a:t>Compare churn patterns across customer groups.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56432"/>
            <a:ext cx="10698480" cy="804672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57600"/>
            <a:ext cx="5943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53BE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621024"/>
            <a:ext cx="246888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t>FORM A HYPOTHESIS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621024"/>
            <a:ext cx="6675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5B4C7"/>
                </a:solidFill>
                <a:latin typeface="Aptos"/>
              </a:defRPr>
            </a:pPr>
            <a:r>
              <a:t>Use observed patterns to design a targeted retention test.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35424"/>
            <a:ext cx="10698480" cy="804672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736592"/>
            <a:ext cx="5943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FB45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700016"/>
            <a:ext cx="246888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t>MEASURE 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700016"/>
            <a:ext cx="6675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5B4C7"/>
                </a:solidFill>
                <a:latin typeface="Aptos"/>
              </a:defRPr>
            </a:pPr>
            <a:r>
              <a:t>Track retention and customer response before scaling.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C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28600"/>
            <a:ext cx="23774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2CDCC7"/>
                </a:solidFill>
                <a:latin typeface="Aptos"/>
              </a:defRPr>
            </a:pPr>
            <a:r>
              <a:t>CI  / 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A5B4C7"/>
                </a:solidFill>
                <a:latin typeface="Aptos"/>
              </a:defRPr>
            </a:pPr>
            <a:r>
              <a:t>CUSTOMER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CDCC7"/>
                </a:solidFill>
                <a:latin typeface="Aptos"/>
              </a:defRPr>
            </a:pPr>
            <a:r>
              <a:t>08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94360"/>
            <a:ext cx="100584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CDCC7"/>
                </a:solidFill>
                <a:latin typeface="Aptos"/>
              </a:defRPr>
            </a:pPr>
            <a:r>
              <a:t>07 / LIVE PRODUCT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14400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Show the platform in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1088136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5B4C7"/>
                </a:solidFill>
                <a:latin typeface="Aptos"/>
              </a:defRPr>
            </a:pPr>
            <a:r>
              <a:t>A short, repeatable walkthrough makes the project easier to evaluate.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86000"/>
            <a:ext cx="5074920" cy="1143000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286000"/>
            <a:ext cx="50292" cy="1143000"/>
          </a:xfrm>
          <a:prstGeom prst="rect">
            <a:avLst/>
          </a:prstGeom>
          <a:solidFill>
            <a:srgbClr val="2C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50592"/>
            <a:ext cx="4709159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01  START THE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4709159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5B4C7"/>
                </a:solidFill>
                <a:latin typeface="Aptos"/>
              </a:defRPr>
            </a:pPr>
            <a:r>
              <a:t>python -m uvicorn day43_api:app --host 127.0.0.1 --port 8000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286000"/>
            <a:ext cx="5074920" cy="1143000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286000"/>
            <a:ext cx="50292" cy="1143000"/>
          </a:xfrm>
          <a:prstGeom prst="rect">
            <a:avLst/>
          </a:prstGeom>
          <a:solidFill>
            <a:srgbClr val="53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450592"/>
            <a:ext cx="4709159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02  START THE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880360"/>
            <a:ext cx="4709159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5B4C7"/>
                </a:solidFill>
                <a:latin typeface="Aptos"/>
              </a:defRPr>
            </a:pPr>
            <a:r>
              <a:t>python -m streamlit run day53.py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03320"/>
            <a:ext cx="5074920" cy="1143000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703320"/>
            <a:ext cx="50292" cy="114300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67911"/>
            <a:ext cx="4709159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03  ENTER AN 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97680"/>
            <a:ext cx="4709159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5B4C7"/>
                </a:solidFill>
                <a:latin typeface="Aptos"/>
              </a:defRPr>
            </a:pPr>
            <a:r>
              <a:t>Open http://localhost:8501 and enter a customer example.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703320"/>
            <a:ext cx="5074920" cy="1143000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703320"/>
            <a:ext cx="50292" cy="1143000"/>
          </a:xfrm>
          <a:prstGeom prst="rect">
            <a:avLst/>
          </a:prstGeom>
          <a:solidFill>
            <a:srgbClr val="6DE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867911"/>
            <a:ext cx="4709159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04  EXPLAIN THE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4709159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5B4C7"/>
                </a:solidFill>
                <a:latin typeface="Aptos"/>
              </a:defRPr>
            </a:pPr>
            <a:r>
              <a:t>Show prediction, probability/risk indicator, and recommendation.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486400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5B4C7"/>
                </a:solidFill>
                <a:latin typeface="Aptos"/>
              </a:defRPr>
            </a:pPr>
            <a:r>
              <a:t>Narration tip: explain what the user inputs, what the API returns, and what the result does not guarantee.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C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28600"/>
            <a:ext cx="23774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2CDCC7"/>
                </a:solidFill>
                <a:latin typeface="Aptos"/>
              </a:defRPr>
            </a:pPr>
            <a:r>
              <a:t>CI  / 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800" b="1">
                <a:solidFill>
                  <a:srgbClr val="A5B4C7"/>
                </a:solidFill>
                <a:latin typeface="Aptos"/>
              </a:defRPr>
            </a:pPr>
            <a:r>
              <a:t>CUSTOMER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CDCC7"/>
                </a:solidFill>
                <a:latin typeface="Aptos"/>
              </a:defRPr>
            </a:pPr>
            <a:r>
              <a:t>09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94360"/>
            <a:ext cx="100584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CDCC7"/>
                </a:solidFill>
                <a:latin typeface="Aptos"/>
              </a:defRPr>
            </a:pPr>
            <a:r>
              <a:t>08 / ENGINEERING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14400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Be clear about the current boundaries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1088136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5B4C7"/>
                </a:solidFill>
                <a:latin typeface="Aptos"/>
              </a:defRPr>
            </a:pPr>
            <a:r>
              <a:t>Day 55 reliability checks were local tests; production-scale behavior has not been established by those checks.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31720"/>
            <a:ext cx="3383280" cy="2057400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331720"/>
            <a:ext cx="50292" cy="2057400"/>
          </a:xfrm>
          <a:prstGeom prst="rect">
            <a:avLst/>
          </a:prstGeom>
          <a:solidFill>
            <a:srgbClr val="6DE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96312"/>
            <a:ext cx="30175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VALIDATED LOCALLY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26079"/>
            <a:ext cx="3017520" cy="1344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5B4C7"/>
                </a:solidFill>
                <a:latin typeface="Aptos"/>
              </a:defRPr>
            </a:pPr>
            <a:r>
              <a:t>Health check, single prediction, batch requests, and invalid-input validation.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331720"/>
            <a:ext cx="3383280" cy="2057400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331720"/>
            <a:ext cx="50292" cy="205740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496312"/>
            <a:ext cx="30175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NOT YET PROVEN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26079"/>
            <a:ext cx="3017520" cy="1344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5B4C7"/>
                </a:solidFill>
                <a:latin typeface="Aptos"/>
              </a:defRPr>
            </a:pPr>
            <a:r>
              <a:t>Production load capacity, long-term drift behavior, or measured retention impact.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331720"/>
            <a:ext cx="3383280" cy="2057400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331720"/>
            <a:ext cx="50292" cy="2057400"/>
          </a:xfrm>
          <a:prstGeom prst="rect">
            <a:avLst/>
          </a:prstGeom>
          <a:solidFill>
            <a:srgbClr val="53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2496312"/>
            <a:ext cx="30175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NEXT IMPROVEMENTS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926079"/>
            <a:ext cx="3017520" cy="1344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5B4C7"/>
                </a:solidFill>
                <a:latin typeface="Aptos"/>
              </a:defRPr>
            </a:pPr>
            <a:r>
              <a:t>Deployment hardening, monitoring, drift checks, feedback, and outcome tracking.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74920"/>
            <a:ext cx="106070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F5F8FC"/>
                </a:solidFill>
                <a:latin typeface="Aptos"/>
              </a:defRPr>
            </a:pPr>
            <a:r>
              <a:t>Trust grows when results, assumptions, and limitations are presented together.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CD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28600"/>
            <a:ext cx="23774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2CDCC7"/>
                </a:solidFill>
                <a:latin typeface="Aptos"/>
              </a:defRPr>
            </a:pPr>
            <a:r>
              <a:t>CI  / 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27432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CDCC7"/>
                </a:solidFill>
                <a:latin typeface="Aptos"/>
              </a:defRPr>
            </a:pPr>
            <a:r>
              <a:t>THE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7498079" cy="2240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F5F8FC"/>
                </a:solidFill>
                <a:latin typeface="Aptos"/>
              </a:defRPr>
            </a:pPr>
            <a:r>
              <a:t>Data becomes useful</a:t>
            </a:r>
          </a:p>
          <a:p>
            <a:pPr>
              <a:spcAft>
                <a:spcPts val="600"/>
              </a:spcAft>
              <a:defRPr sz="3400" b="1">
                <a:solidFill>
                  <a:srgbClr val="F5F8FC"/>
                </a:solidFill>
                <a:latin typeface="Aptos"/>
              </a:defRPr>
            </a:pPr>
            <a:r>
              <a:t>when people can act</a:t>
            </a:r>
          </a:p>
          <a:p>
            <a:pPr>
              <a:spcAft>
                <a:spcPts val="600"/>
              </a:spcAft>
              <a:defRPr sz="3400" b="1">
                <a:solidFill>
                  <a:srgbClr val="F5F8FC"/>
                </a:solidFill>
                <a:latin typeface="Aptos"/>
              </a:defRPr>
            </a:pPr>
            <a:r>
              <a:t>on it responsibly.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43400"/>
            <a:ext cx="7498079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53BEFF"/>
                </a:solidFill>
                <a:latin typeface="Aptos"/>
              </a:defRPr>
            </a:pPr>
            <a:r>
              <a:t>Prepare  •  Predict  •  Explain  •  Evaluate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828800"/>
            <a:ext cx="2423160" cy="2423160"/>
          </a:xfrm>
          <a:prstGeom prst="roundRect">
            <a:avLst/>
          </a:prstGeom>
          <a:solidFill>
            <a:srgbClr val="142035"/>
          </a:solidFill>
          <a:ln>
            <a:solidFill>
              <a:srgbClr val="2D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72600" y="2286000"/>
            <a:ext cx="1097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A5B4C7"/>
                </a:solidFill>
                <a:latin typeface="Aptos"/>
              </a:defRPr>
            </a:pPr>
            <a:r>
              <a:t>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697480"/>
            <a:ext cx="155448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2CDCC7"/>
                </a:solidFill>
                <a:latin typeface="Aptos"/>
              </a:defRPr>
            </a:pPr>
            <a:r>
              <a:t>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3520440"/>
            <a:ext cx="13716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5F8FC"/>
                </a:solidFill>
                <a:latin typeface="Aptos"/>
              </a:defRPr>
            </a:pPr>
            <a:r>
              <a:t>/ 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A5B4C7"/>
                </a:solidFill>
                <a:latin typeface="Aptos"/>
              </a:defRPr>
            </a:pPr>
            <a:r>
              <a:t>CUSTOMER INTELLIGENCE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5989320"/>
            <a:ext cx="20116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2CDCC7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